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2"/>
  </p:notesMasterIdLst>
  <p:sldIdLst>
    <p:sldId id="256" r:id="rId2"/>
    <p:sldId id="258" r:id="rId3"/>
    <p:sldId id="264" r:id="rId4"/>
    <p:sldId id="272" r:id="rId5"/>
    <p:sldId id="265" r:id="rId6"/>
    <p:sldId id="273" r:id="rId7"/>
    <p:sldId id="266" r:id="rId8"/>
    <p:sldId id="274" r:id="rId9"/>
    <p:sldId id="267" r:id="rId10"/>
    <p:sldId id="271" r:id="rId11"/>
  </p:sldIdLst>
  <p:sldSz cx="9144000" cy="5143500" type="screen16x9"/>
  <p:notesSz cx="6858000" cy="9144000"/>
  <p:embeddedFontLst>
    <p:embeddedFont>
      <p:font typeface="Lekton" panose="020B0604020202020204" charset="0"/>
      <p:regular r:id="rId13"/>
      <p:bold r:id="rId14"/>
      <p:italic r:id="rId15"/>
    </p:embeddedFont>
    <p:embeddedFont>
      <p:font typeface="SK Primo" panose="020B0604020202020204" charset="0"/>
      <p:regular r:id="rId16"/>
    </p:embeddedFont>
    <p:embeddedFont>
      <p:font typeface="Titillium Web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ssein Shamas" initials="HS" lastIdx="1" clrIdx="0">
    <p:extLst>
      <p:ext uri="{19B8F6BF-5375-455C-9EA6-DF929625EA0E}">
        <p15:presenceInfo xmlns:p15="http://schemas.microsoft.com/office/powerpoint/2012/main" userId="1973169c2337a83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9448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395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6849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08aeda40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08aeda40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1748b7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1748b7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7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pscientist/students-performance-in-exam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seiinshamas/StudentsPerformanceAnalysi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65974"/>
            <a:ext cx="9144000" cy="3135373"/>
            <a:chOff x="0" y="0"/>
            <a:chExt cx="4816593" cy="16515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651555"/>
            </a:xfrm>
            <a:custGeom>
              <a:avLst/>
              <a:gdLst/>
              <a:ahLst/>
              <a:cxnLst/>
              <a:rect l="l" t="t" r="r" b="b"/>
              <a:pathLst>
                <a:path w="4816592" h="1651555">
                  <a:moveTo>
                    <a:pt x="0" y="0"/>
                  </a:moveTo>
                  <a:lnTo>
                    <a:pt x="4816592" y="0"/>
                  </a:lnTo>
                  <a:lnTo>
                    <a:pt x="4816592" y="1651555"/>
                  </a:lnTo>
                  <a:lnTo>
                    <a:pt x="0" y="1651555"/>
                  </a:lnTo>
                  <a:close/>
                </a:path>
              </a:pathLst>
            </a:custGeom>
            <a:solidFill>
              <a:srgbClr val="F48048"/>
            </a:solidFill>
          </p:spPr>
          <p:txBody>
            <a:bodyPr/>
            <a:lstStyle/>
            <a:p>
              <a:endParaRPr lang="en-US" sz="7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168013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608"/>
                </a:lnSpc>
              </a:pPr>
              <a:endParaRPr sz="7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0892" y="2667078"/>
            <a:ext cx="8342216" cy="18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4"/>
              </a:lnSpc>
            </a:pPr>
            <a:r>
              <a:rPr lang="en-US" sz="1200" spc="349" dirty="0">
                <a:latin typeface="SK Primo"/>
                <a:ea typeface="SK Primo"/>
                <a:cs typeface="SK Primo"/>
                <a:sym typeface="SK Primo"/>
              </a:rPr>
              <a:t>DATA VISUALIZATION</a:t>
            </a:r>
          </a:p>
          <a:p>
            <a:pPr algn="ctr">
              <a:lnSpc>
                <a:spcPts val="8234"/>
              </a:lnSpc>
            </a:pPr>
            <a:r>
              <a:rPr lang="en-US" sz="1200" spc="349" dirty="0">
                <a:latin typeface="SK Primo"/>
                <a:ea typeface="SK Primo"/>
                <a:cs typeface="SK Primo"/>
                <a:sym typeface="SK Primo"/>
              </a:rPr>
              <a:t>Hussein Shamas</a:t>
            </a:r>
          </a:p>
        </p:txBody>
      </p:sp>
      <p:sp>
        <p:nvSpPr>
          <p:cNvPr id="6" name="Freeform 6"/>
          <p:cNvSpPr/>
          <p:nvPr/>
        </p:nvSpPr>
        <p:spPr>
          <a:xfrm>
            <a:off x="880631" y="1965927"/>
            <a:ext cx="2620167" cy="114335"/>
          </a:xfrm>
          <a:custGeom>
            <a:avLst/>
            <a:gdLst/>
            <a:ahLst/>
            <a:cxnLst/>
            <a:rect l="l" t="t" r="r" b="b"/>
            <a:pathLst>
              <a:path w="5240333" h="228669">
                <a:moveTo>
                  <a:pt x="0" y="0"/>
                </a:moveTo>
                <a:lnTo>
                  <a:pt x="5240333" y="0"/>
                </a:lnTo>
                <a:lnTo>
                  <a:pt x="5240333" y="228669"/>
                </a:lnTo>
                <a:lnTo>
                  <a:pt x="0" y="22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02713" y="331548"/>
            <a:ext cx="2607210" cy="3244266"/>
          </a:xfrm>
          <a:custGeom>
            <a:avLst/>
            <a:gdLst/>
            <a:ahLst/>
            <a:cxnLst/>
            <a:rect l="l" t="t" r="r" b="b"/>
            <a:pathLst>
              <a:path w="5214420" h="6488531">
                <a:moveTo>
                  <a:pt x="0" y="0"/>
                </a:moveTo>
                <a:lnTo>
                  <a:pt x="5214420" y="0"/>
                </a:lnTo>
                <a:lnTo>
                  <a:pt x="5214420" y="6488531"/>
                </a:lnTo>
                <a:lnTo>
                  <a:pt x="0" y="6488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7747720" y="1051132"/>
            <a:ext cx="1068737" cy="1972501"/>
          </a:xfrm>
          <a:custGeom>
            <a:avLst/>
            <a:gdLst/>
            <a:ahLst/>
            <a:cxnLst/>
            <a:rect l="l" t="t" r="r" b="b"/>
            <a:pathLst>
              <a:path w="2137473" h="3945001">
                <a:moveTo>
                  <a:pt x="0" y="0"/>
                </a:moveTo>
                <a:lnTo>
                  <a:pt x="2137473" y="0"/>
                </a:lnTo>
                <a:lnTo>
                  <a:pt x="2137473" y="3945001"/>
                </a:lnTo>
                <a:lnTo>
                  <a:pt x="0" y="3945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50792" y="1651334"/>
            <a:ext cx="734193" cy="772096"/>
          </a:xfrm>
          <a:custGeom>
            <a:avLst/>
            <a:gdLst/>
            <a:ahLst/>
            <a:cxnLst/>
            <a:rect l="l" t="t" r="r" b="b"/>
            <a:pathLst>
              <a:path w="1468385" h="1544191">
                <a:moveTo>
                  <a:pt x="0" y="0"/>
                </a:moveTo>
                <a:lnTo>
                  <a:pt x="1468385" y="0"/>
                </a:lnTo>
                <a:lnTo>
                  <a:pt x="1468385" y="1544191"/>
                </a:lnTo>
                <a:lnTo>
                  <a:pt x="0" y="15441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906015" y="1651334"/>
            <a:ext cx="734193" cy="772096"/>
          </a:xfrm>
          <a:custGeom>
            <a:avLst/>
            <a:gdLst/>
            <a:ahLst/>
            <a:cxnLst/>
            <a:rect l="l" t="t" r="r" b="b"/>
            <a:pathLst>
              <a:path w="1468385" h="1544191">
                <a:moveTo>
                  <a:pt x="0" y="0"/>
                </a:moveTo>
                <a:lnTo>
                  <a:pt x="1468385" y="0"/>
                </a:lnTo>
                <a:lnTo>
                  <a:pt x="1468385" y="1544191"/>
                </a:lnTo>
                <a:lnTo>
                  <a:pt x="0" y="15441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61238" y="1651334"/>
            <a:ext cx="734193" cy="772096"/>
          </a:xfrm>
          <a:custGeom>
            <a:avLst/>
            <a:gdLst/>
            <a:ahLst/>
            <a:cxnLst/>
            <a:rect l="l" t="t" r="r" b="b"/>
            <a:pathLst>
              <a:path w="1468385" h="1544191">
                <a:moveTo>
                  <a:pt x="0" y="0"/>
                </a:moveTo>
                <a:lnTo>
                  <a:pt x="1468385" y="0"/>
                </a:lnTo>
                <a:lnTo>
                  <a:pt x="1468385" y="1544191"/>
                </a:lnTo>
                <a:lnTo>
                  <a:pt x="0" y="15441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64982" y="461963"/>
            <a:ext cx="5614037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Lekton"/>
                <a:ea typeface="Lekton"/>
                <a:cs typeface="Lekton"/>
                <a:sym typeface="Lekton"/>
              </a:rPr>
              <a:t>Students Academic Performance: Does Parents’ Education Matter?</a:t>
            </a:r>
            <a:endParaRPr lang="en-US" sz="4000" b="1" dirty="0">
              <a:solidFill>
                <a:srgbClr val="000000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1074586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1277000" y="700450"/>
            <a:ext cx="21285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ctrTitle"/>
          </p:nvPr>
        </p:nvSpPr>
        <p:spPr>
          <a:xfrm>
            <a:off x="48800" y="356934"/>
            <a:ext cx="4584900" cy="8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 dirty="0"/>
              <a:t>Data Visualization</a:t>
            </a:r>
            <a:endParaRPr sz="20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600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Individual Assignment</a:t>
            </a:r>
            <a:endParaRPr sz="2000" dirty="0"/>
          </a:p>
        </p:txBody>
      </p:sp>
      <p:sp>
        <p:nvSpPr>
          <p:cNvPr id="117" name="Google Shape;117;p23"/>
          <p:cNvSpPr txBox="1"/>
          <p:nvPr/>
        </p:nvSpPr>
        <p:spPr>
          <a:xfrm>
            <a:off x="4559225" y="427560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Hussein Shamas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946916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en-US" sz="1200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H.shamas@unimib.campus.gmail.com</a:t>
            </a:r>
            <a:endParaRPr sz="1200"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18" name="Google Shape;118;p23"/>
          <p:cNvCxnSpPr/>
          <p:nvPr/>
        </p:nvCxnSpPr>
        <p:spPr>
          <a:xfrm>
            <a:off x="4572000" y="0"/>
            <a:ext cx="0" cy="5134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3"/>
          <p:cNvSpPr txBox="1"/>
          <p:nvPr/>
        </p:nvSpPr>
        <p:spPr>
          <a:xfrm>
            <a:off x="4459109" y="0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Lekton"/>
                <a:ea typeface="Lekton"/>
                <a:cs typeface="Lekton"/>
                <a:sym typeface="Lekton"/>
              </a:rPr>
              <a:t>Students Academic Performance: Does Parents’ Education Matter?</a:t>
            </a:r>
            <a:endParaRPr sz="4200" b="1" dirty="0">
              <a:solidFill>
                <a:srgbClr val="000000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-12900" y="1551150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i="1" dirty="0">
              <a:solidFill>
                <a:schemeClr val="dk2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C7DF92-9B0C-4822-8BD7-4CF2350B1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1" y="1390509"/>
            <a:ext cx="4465621" cy="28850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574200" y="301025"/>
            <a:ext cx="7995600" cy="467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2"/>
            <a:r>
              <a:rPr lang="en-US" sz="1200" b="1" dirty="0">
                <a:latin typeface="Lekton" panose="020B0604020202020204" charset="0"/>
              </a:rPr>
              <a:t>Initial considerations:</a:t>
            </a:r>
            <a:endParaRPr lang="en-US" sz="1200" dirty="0">
              <a:latin typeface="Lekton" panose="020B06040202020202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The dataset provides detailed academic performance (math, reading, writing) along with demographic and family information for students.</a:t>
            </a:r>
          </a:p>
          <a:p>
            <a:pPr lvl="2"/>
            <a:endParaRPr lang="en-US" sz="1200" dirty="0">
              <a:latin typeface="Lekton" panose="020B06040202020202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I wanted a dataset that could help answer whether </a:t>
            </a:r>
            <a:r>
              <a:rPr lang="en-US" sz="1200" b="1" dirty="0">
                <a:latin typeface="Lekton" panose="020B0604020202020204" charset="0"/>
              </a:rPr>
              <a:t>parents’ education level affects student performance</a:t>
            </a:r>
            <a:r>
              <a:rPr lang="en-US" sz="1200" dirty="0">
                <a:latin typeface="Lekton" panose="020B0604020202020204" charset="0"/>
              </a:rPr>
              <a:t>.</a:t>
            </a:r>
          </a:p>
          <a:p>
            <a:pPr lvl="2"/>
            <a:endParaRPr lang="en-US" sz="1200" dirty="0">
              <a:latin typeface="Lekton" panose="020B0604020202020204" charset="0"/>
            </a:endParaRPr>
          </a:p>
          <a:p>
            <a:pPr lvl="2"/>
            <a:r>
              <a:rPr lang="en-US" sz="1200" b="1" dirty="0">
                <a:latin typeface="Lekton" panose="020B0604020202020204" charset="0"/>
              </a:rPr>
              <a:t>Issues faced while searching for data:</a:t>
            </a:r>
            <a:endParaRPr lang="en-US" sz="1200" dirty="0">
              <a:latin typeface="Lekton" panose="020B06040202020202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Many publicly available datasets either lacked parental education info or had incomplete score data.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Some datasets were focused on specific regions or grades, not providing a generalizable sample.</a:t>
            </a:r>
          </a:p>
          <a:p>
            <a:pPr lvl="2"/>
            <a:endParaRPr lang="en-US" sz="1200" b="1" dirty="0">
              <a:latin typeface="Lekton" panose="020B0604020202020204" charset="0"/>
            </a:endParaRPr>
          </a:p>
          <a:p>
            <a:pPr lvl="2"/>
            <a:r>
              <a:rPr lang="en-US" sz="1200" b="1" dirty="0">
                <a:latin typeface="Lekton" panose="020B0604020202020204" charset="0"/>
              </a:rPr>
              <a:t>Chosen dataset(s):</a:t>
            </a:r>
            <a:endParaRPr lang="en-US" sz="1200" dirty="0">
              <a:latin typeface="Lekton" panose="020B06040202020202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1" dirty="0">
                <a:latin typeface="Lekton" panose="020B0604020202020204" charset="0"/>
              </a:rPr>
              <a:t>“Students Performance in Exams”</a:t>
            </a:r>
            <a:r>
              <a:rPr lang="en-US" sz="1200" dirty="0">
                <a:latin typeface="Lekton" panose="020B0604020202020204" charset="0"/>
              </a:rPr>
              <a:t> (Kaggle) — contains 1000+ students, includes math, reading, writing scores, gender, test prep course, and parental education level. Link: </a:t>
            </a:r>
            <a:r>
              <a:rPr lang="en-US" sz="1200" dirty="0" err="1">
                <a:latin typeface="Lekton" panose="020B0604020202020204" charset="0"/>
                <a:hlinkClick r:id="rId3"/>
              </a:rPr>
              <a:t>StudentsPerformance</a:t>
            </a:r>
            <a:endParaRPr lang="en-US" sz="1200" dirty="0">
              <a:latin typeface="Lekton" panose="020B0604020202020204" charset="0"/>
            </a:endParaRPr>
          </a:p>
          <a:p>
            <a:pPr lvl="2"/>
            <a:endParaRPr lang="en-US" sz="1200" b="1" dirty="0">
              <a:latin typeface="Lekton" panose="020B0604020202020204" charset="0"/>
            </a:endParaRPr>
          </a:p>
          <a:p>
            <a:pPr lvl="2"/>
            <a:r>
              <a:rPr lang="en-US" sz="1200" b="1" dirty="0">
                <a:latin typeface="Lekton" panose="020B0604020202020204" charset="0"/>
              </a:rPr>
              <a:t>License:</a:t>
            </a:r>
            <a:endParaRPr lang="en-US" sz="1200" dirty="0">
              <a:latin typeface="Lekton" panose="020B06040202020202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Shared under </a:t>
            </a:r>
            <a:r>
              <a:rPr lang="en-US" sz="1200" b="1" dirty="0">
                <a:latin typeface="Lekton" panose="020B0604020202020204" charset="0"/>
              </a:rPr>
              <a:t>Kaggle’s terms of use</a:t>
            </a:r>
            <a:r>
              <a:rPr lang="en-US" sz="1200" dirty="0">
                <a:latin typeface="Lekton" panose="020B0604020202020204" charset="0"/>
              </a:rPr>
              <a:t>, allowing non-commercial research and academic work.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This means I can analyze, visualize, and present findings for educational purposes but cannot redistribute the raw dataset publicly.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1200" dirty="0">
              <a:latin typeface="Lekton" panose="020B0604020202020204" charset="0"/>
            </a:endParaRPr>
          </a:p>
          <a:p>
            <a:r>
              <a:rPr lang="en-US" sz="1200" b="1" dirty="0">
                <a:latin typeface="Lekton" panose="020B0604020202020204" charset="0"/>
              </a:rPr>
              <a:t>Data quality &amp; completeness concerns:</a:t>
            </a:r>
            <a:endParaRPr lang="en-US" sz="1200" dirty="0">
              <a:latin typeface="Lekto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Dataset is </a:t>
            </a:r>
            <a:r>
              <a:rPr lang="en-US" sz="1200" b="1" dirty="0">
                <a:latin typeface="Lekton" panose="020B0604020202020204" charset="0"/>
              </a:rPr>
              <a:t>mostly clean</a:t>
            </a:r>
            <a:r>
              <a:rPr lang="en-US" sz="1200" dirty="0">
                <a:latin typeface="Lekton" panose="020B0604020202020204" charset="0"/>
              </a:rPr>
              <a:t>, but potential issues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Some parental education categories have fewer students (imbalanced groups).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Cross-sectional survey — cannot analyze trends over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Lekton" panose="020B0604020202020204" charset="0"/>
              </a:rPr>
              <a:t>Scores are standardized but may have minor input errors (unlikely, given Kaggle verification).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1200" dirty="0">
              <a:latin typeface="Lekton" panose="020B06040202020202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endParaRPr lang="en-US" sz="1200" dirty="0">
              <a:latin typeface="Lekton" panose="020B06040202020202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endParaRPr lang="en-US" sz="1200" dirty="0">
              <a:latin typeface="Lekton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574200" y="233312"/>
            <a:ext cx="7995600" cy="467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2">
              <a:buFont typeface="Arial" panose="020B0604020202020204" pitchFamily="34" charset="0"/>
              <a:buChar char="•"/>
            </a:pPr>
            <a:endParaRPr lang="en-US" sz="1200" dirty="0">
              <a:latin typeface="Lekton" panose="020B060402020202020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endParaRPr lang="en-US" sz="1200" dirty="0">
              <a:latin typeface="Lekton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30C22-9A30-453F-83BF-8274A3D9F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00" y="1442123"/>
            <a:ext cx="812914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Anticipated data cleaning operations: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Renaming columns for clarity.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Creating derived variables like average score or total score.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Converting categorical columns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e.g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parental level of education) to consistent naming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Checking for missing values (none in this dataset, but verified programmatically).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40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/>
        </p:nvSpPr>
        <p:spPr>
          <a:xfrm>
            <a:off x="410400" y="384724"/>
            <a:ext cx="8139600" cy="464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"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"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97D3E-276F-44D6-A7CA-A5037AA12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600" y="723604"/>
            <a:ext cx="83599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Data Collection: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Dataset obtained from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Kaggle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(“Students Performance in Exams”), downloaded manually.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No scraping or APIs were used, as the dataset is fully provided in CSV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Data Processing &amp; Cleaning: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Processed using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Python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in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Jupyter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Notebook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Key libraries: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pandas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(data handling),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numpy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(numeric operations),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matplotlib &amp; seaborn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(visualization).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Checked for missing values, corrected inconsistent column names, and verified data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Data Transformation: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Created derived variables: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Lekton" panose="020B0604020202020204" charset="0"/>
              </a:rPr>
              <a:t>Average score = mean of math, reading, and writing scores per student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Total_score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= sum of math, reading, and writing scores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Aggregated data by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parental education level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for analysis.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Encoded categorical variables consistently for plotting and statistical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Use of AI Tools: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ChatGPT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used for: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Suggestions for data cleaning and analysis steps.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All analysis decisions and interpretation were done independently.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/>
        </p:nvSpPr>
        <p:spPr>
          <a:xfrm>
            <a:off x="163551" y="143073"/>
            <a:ext cx="8386449" cy="485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"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"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F377F1-A336-4050-ADCA-4A6D46DDE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00" y="1231435"/>
            <a:ext cx="918071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Analytical Techniques: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Descriptive statistics: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mean, median, standard deviation of scores per parental education group.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Comparative analysis: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boxplots to compare distributions across groups.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Subject-level comparison: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math, reading, writing scores analyzed separately to identify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Gender &amp; test preparation interactions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: additional stratified analysis with visualizations.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Reproducibility: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All code shared in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Jupyter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 Notebook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Cleaned dataset exported as students_performance_clean.csv.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kton" panose="020B0604020202020204" charset="0"/>
              </a:rPr>
              <a:t>All steps documented and can be replicated using the provided code and Kaggle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Lekton" panose="020B0604020202020204" charset="0"/>
              </a:rPr>
              <a:t>All was documented on my </a:t>
            </a:r>
            <a:r>
              <a:rPr lang="en-US" altLang="en-US" dirty="0" err="1">
                <a:solidFill>
                  <a:schemeClr val="tx1"/>
                </a:solidFill>
                <a:latin typeface="Lekton" panose="020B0604020202020204" charset="0"/>
              </a:rPr>
              <a:t>Github</a:t>
            </a:r>
            <a:r>
              <a:rPr lang="en-US" altLang="en-US" dirty="0">
                <a:solidFill>
                  <a:schemeClr val="tx1"/>
                </a:solidFill>
                <a:latin typeface="Lekton" panose="020B060402020202020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Lekton" panose="020B0604020202020204" charset="0"/>
                <a:hlinkClick r:id="rId3"/>
              </a:rPr>
              <a:t>RepoLink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kto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98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540000" y="208800"/>
            <a:ext cx="5011200" cy="456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endParaRPr lang="en-US" b="1" dirty="0">
              <a:latin typeface="Lekton" panose="020B0604020202020204" charset="0"/>
            </a:endParaRPr>
          </a:p>
          <a:p>
            <a:r>
              <a:rPr lang="en-US" b="1" dirty="0">
                <a:latin typeface="Lekton" panose="020B0604020202020204" charset="0"/>
              </a:rPr>
              <a:t>Main Insights:</a:t>
            </a:r>
            <a:endParaRPr lang="en-US" dirty="0">
              <a:latin typeface="Lekto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Parental education matters:</a:t>
            </a:r>
            <a:r>
              <a:rPr lang="en-US" dirty="0">
                <a:latin typeface="Lekton" panose="020B0604020202020204" charset="0"/>
              </a:rPr>
              <a:t> Students whose parents have higher education (bachelor’s or master’s degree) consistently show </a:t>
            </a:r>
            <a:r>
              <a:rPr lang="en-US" b="1" dirty="0">
                <a:latin typeface="Lekton" panose="020B0604020202020204" charset="0"/>
              </a:rPr>
              <a:t>higher average scores</a:t>
            </a:r>
            <a:r>
              <a:rPr lang="en-US" dirty="0">
                <a:latin typeface="Lekton" panose="020B0604020202020204" charset="0"/>
              </a:rPr>
              <a:t> across math, reading, and writing.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Score ranges:</a:t>
            </a:r>
            <a:endParaRPr lang="en-US" dirty="0">
              <a:latin typeface="Lekton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Lekton" panose="020B0604020202020204" charset="0"/>
              </a:rPr>
              <a:t>Minimum average score: ~50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Lekton" panose="020B0604020202020204" charset="0"/>
              </a:rPr>
              <a:t>Maximum average score: ~100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Lekton" panose="020B0604020202020204" charset="0"/>
              </a:rPr>
              <a:t>Average overall score: ~70–75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Outliers:</a:t>
            </a:r>
            <a:r>
              <a:rPr lang="en-US" dirty="0">
                <a:latin typeface="Lekton" panose="020B0604020202020204" charset="0"/>
              </a:rPr>
              <a:t> A few students with very low scores (below 40) and very high scores (above 95) exist, but distribution is generally normal.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Subject differences:</a:t>
            </a:r>
            <a:r>
              <a:rPr lang="en-US" dirty="0">
                <a:latin typeface="Lekton" panose="020B0604020202020204" charset="0"/>
              </a:rPr>
              <a:t> Reading and writing scores show a stronger correlation with parental education than math.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Gender trends:</a:t>
            </a:r>
            <a:r>
              <a:rPr lang="en-US" dirty="0">
                <a:latin typeface="Lekton" panose="020B0604020202020204" charset="0"/>
              </a:rPr>
              <a:t> Girls slightly outperform boys in reading and writing, while math scores are similar across genders.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Test preparation effect:</a:t>
            </a:r>
            <a:r>
              <a:rPr lang="en-US" dirty="0">
                <a:latin typeface="Lekton" panose="020B0604020202020204" charset="0"/>
              </a:rPr>
              <a:t> Completing a test preparation course boosts scores across all parental education groups.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E3A2FD-984B-4FFA-8118-F272851F7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1280837"/>
            <a:ext cx="3673262" cy="2978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540000" y="208800"/>
            <a:ext cx="4852800" cy="456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endParaRPr lang="en-US" b="1" dirty="0">
              <a:latin typeface="Lekton" panose="020B0604020202020204" charset="0"/>
            </a:endParaRPr>
          </a:p>
          <a:p>
            <a:endParaRPr lang="en-US" b="1" dirty="0">
              <a:latin typeface="Lekton" panose="020B0604020202020204" charset="0"/>
            </a:endParaRPr>
          </a:p>
          <a:p>
            <a:r>
              <a:rPr lang="en-US" b="1" dirty="0">
                <a:latin typeface="Lekton" panose="020B0604020202020204" charset="0"/>
              </a:rPr>
              <a:t>Analysis Operations Performed:</a:t>
            </a:r>
            <a:endParaRPr lang="en-US" dirty="0">
              <a:latin typeface="Lekto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Descriptive statistics:</a:t>
            </a:r>
            <a:r>
              <a:rPr lang="en-US" dirty="0">
                <a:latin typeface="Lekton" panose="020B0604020202020204" charset="0"/>
              </a:rPr>
              <a:t> mean, median, min, max, standard deviation per parental education group.</a:t>
            </a:r>
          </a:p>
          <a:p>
            <a:endParaRPr lang="en-US" dirty="0">
              <a:latin typeface="Lekto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Comparative analysis:</a:t>
            </a:r>
            <a:r>
              <a:rPr lang="en-US" dirty="0">
                <a:latin typeface="Lekton" panose="020B0604020202020204" charset="0"/>
              </a:rPr>
              <a:t> boxplots comparing average scores across parental education categories.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Lekton" panose="020B0604020202020204" charset="0"/>
            </a:endParaRPr>
          </a:p>
          <a:p>
            <a:endParaRPr lang="en-US" dirty="0">
              <a:latin typeface="Lekto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Subject-level comparison:</a:t>
            </a:r>
            <a:r>
              <a:rPr lang="en-US" dirty="0">
                <a:latin typeface="Lekton" panose="020B0604020202020204" charset="0"/>
              </a:rPr>
              <a:t> separate boxplots for math, reading, and writing scores.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Lekton" panose="020B0604020202020204" charset="0"/>
            </a:endParaRPr>
          </a:p>
          <a:p>
            <a:endParaRPr lang="en-US" dirty="0">
              <a:latin typeface="Lekto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kton" panose="020B0604020202020204" charset="0"/>
              </a:rPr>
              <a:t>Stratified analysis:</a:t>
            </a:r>
            <a:r>
              <a:rPr lang="en-US" dirty="0">
                <a:latin typeface="Lekton" panose="020B0604020202020204" charset="0"/>
              </a:rPr>
              <a:t> additional boxplots by gender and test preparation course.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E3A2FD-984B-4FFA-8118-F272851F7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8440" y="1131780"/>
            <a:ext cx="3673262" cy="251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72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C35D5-1FC4-452E-9F2D-6729E73F0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130" y="1264425"/>
            <a:ext cx="3086425" cy="2960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DDB5A3-E103-4DA5-8286-868E9FE6A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195" y="1264425"/>
            <a:ext cx="3064935" cy="2960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48855D-4899-49A3-9B81-E76F4DAD0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55163"/>
            <a:ext cx="2478338" cy="2433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CFEB27-1209-46D3-8CA0-82552CA5AF1D}"/>
              </a:ext>
            </a:extLst>
          </p:cNvPr>
          <p:cNvSpPr txBox="1"/>
          <p:nvPr/>
        </p:nvSpPr>
        <p:spPr>
          <a:xfrm>
            <a:off x="249353" y="861212"/>
            <a:ext cx="2319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kton" panose="020B0604020202020204" charset="0"/>
              </a:rPr>
              <a:t>Math Score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DE5197-F614-4F92-86EA-CF724D135527}"/>
              </a:ext>
            </a:extLst>
          </p:cNvPr>
          <p:cNvSpPr txBox="1"/>
          <p:nvPr/>
        </p:nvSpPr>
        <p:spPr>
          <a:xfrm>
            <a:off x="3053693" y="861211"/>
            <a:ext cx="2319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kton" panose="020B0604020202020204" charset="0"/>
              </a:rPr>
              <a:t>Reading Score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111FB2-FCB3-470D-93C6-30CA401982D7}"/>
              </a:ext>
            </a:extLst>
          </p:cNvPr>
          <p:cNvSpPr txBox="1"/>
          <p:nvPr/>
        </p:nvSpPr>
        <p:spPr>
          <a:xfrm>
            <a:off x="6129373" y="861210"/>
            <a:ext cx="2319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kton" panose="020B0604020202020204" charset="0"/>
              </a:rPr>
              <a:t>Writing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540000" y="860725"/>
            <a:ext cx="3288900" cy="4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LICENSE</a:t>
            </a: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2" name="Google Shape;192;p36"/>
          <p:cNvSpPr txBox="1"/>
          <p:nvPr/>
        </p:nvSpPr>
        <p:spPr>
          <a:xfrm>
            <a:off x="4824000" y="551125"/>
            <a:ext cx="37800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600" b="1" dirty="0">
                <a:latin typeface="Lekton" panose="020B0604020202020204" charset="0"/>
              </a:rPr>
              <a:t>License</a:t>
            </a:r>
          </a:p>
          <a:p>
            <a:r>
              <a:rPr lang="en-US" sz="1600" dirty="0">
                <a:latin typeface="Lekton" panose="020B0604020202020204" charset="0"/>
              </a:rPr>
              <a:t>This work is licensed under a</a:t>
            </a:r>
            <a:br>
              <a:rPr lang="en-US" sz="1600" dirty="0">
                <a:latin typeface="Lekton" panose="020B0604020202020204" charset="0"/>
              </a:rPr>
            </a:br>
            <a:r>
              <a:rPr lang="en-US" sz="1600" b="1" dirty="0">
                <a:latin typeface="Lekton" panose="020B0604020202020204" charset="0"/>
              </a:rPr>
              <a:t>Creative Commons Attribution 4.0 International License (CC BY 4.0).</a:t>
            </a:r>
            <a:endParaRPr lang="en-US" sz="1600" dirty="0">
              <a:latin typeface="Lekton" panose="020B0604020202020204" charset="0"/>
            </a:endParaRPr>
          </a:p>
          <a:p>
            <a:endParaRPr lang="en-US" sz="1600" dirty="0">
              <a:latin typeface="Lekton" panose="020B0604020202020204" charset="0"/>
            </a:endParaRPr>
          </a:p>
          <a:p>
            <a:r>
              <a:rPr lang="en-US" sz="1600" dirty="0">
                <a:latin typeface="Lekton" panose="020B0604020202020204" charset="0"/>
              </a:rPr>
              <a:t>You are free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Lekton" panose="020B0604020202020204" charset="0"/>
              </a:rPr>
              <a:t>Share</a:t>
            </a:r>
            <a:r>
              <a:rPr lang="en-US" sz="1600" dirty="0">
                <a:latin typeface="Lekton" panose="020B0604020202020204" charset="0"/>
              </a:rPr>
              <a:t> — copy and redistribute the material in any medium or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Lekton" panose="020B0604020202020204" charset="0"/>
              </a:rPr>
              <a:t>Adapt</a:t>
            </a:r>
            <a:r>
              <a:rPr lang="en-US" sz="1600" dirty="0">
                <a:latin typeface="Lekton" panose="020B0604020202020204" charset="0"/>
              </a:rPr>
              <a:t> — remix, transform, and build upon the material for any purpose, even commercially</a:t>
            </a:r>
          </a:p>
          <a:p>
            <a:r>
              <a:rPr lang="en-US" sz="1600" dirty="0">
                <a:latin typeface="Lekton" panose="020B0604020202020204" charset="0"/>
              </a:rPr>
              <a:t>Under the following terms: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Lekton" panose="020B0604020202020204" charset="0"/>
              </a:rPr>
              <a:t>Attribution</a:t>
            </a:r>
            <a:r>
              <a:rPr lang="en-US" sz="1600" dirty="0">
                <a:latin typeface="Lekton" panose="020B0604020202020204" charset="0"/>
              </a:rPr>
              <a:t> — You must give appropriate credit.</a:t>
            </a:r>
          </a:p>
          <a:p>
            <a:endParaRPr lang="en-US" sz="1600" dirty="0">
              <a:latin typeface="Lekton" panose="020B0604020202020204" charset="0"/>
            </a:endParaRPr>
          </a:p>
          <a:p>
            <a:r>
              <a:rPr lang="en-US" sz="1600" dirty="0">
                <a:latin typeface="Lekton" panose="020B0604020202020204" charset="0"/>
              </a:rPr>
              <a:t>Link to license:</a:t>
            </a:r>
            <a:br>
              <a:rPr lang="en-US" sz="1600" dirty="0">
                <a:latin typeface="Lekton" panose="020B0604020202020204" charset="0"/>
              </a:rPr>
            </a:br>
            <a:r>
              <a:rPr lang="en-US" sz="1600" b="1" dirty="0">
                <a:latin typeface="Lekton" panose="020B0604020202020204" charset="0"/>
                <a:hlinkClick r:id="rId3"/>
              </a:rPr>
              <a:t>https://creativecommons.org/licenses/by/4.0/</a:t>
            </a:r>
            <a:endParaRPr lang="en-US" sz="1600" dirty="0">
              <a:latin typeface="Lekton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872</Words>
  <Application>Microsoft Office PowerPoint</Application>
  <PresentationFormat>On-screen Show (16:9)</PresentationFormat>
  <Paragraphs>110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Lekton</vt:lpstr>
      <vt:lpstr>SK Primo</vt:lpstr>
      <vt:lpstr>Arial</vt:lpstr>
      <vt:lpstr>Titillium Web</vt:lpstr>
      <vt:lpstr>Simple Light</vt:lpstr>
      <vt:lpstr>PowerPoint Presentation</vt:lpstr>
      <vt:lpstr>Data Visualization Individual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Pitch</dc:title>
  <cp:lastModifiedBy>Hussein Shamas</cp:lastModifiedBy>
  <cp:revision>9</cp:revision>
  <dcterms:modified xsi:type="dcterms:W3CDTF">2025-12-02T10:38:40Z</dcterms:modified>
</cp:coreProperties>
</file>